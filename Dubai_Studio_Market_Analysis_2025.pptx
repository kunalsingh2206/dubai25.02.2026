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7010400" cy="929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1036</c:v>
                </c:pt>
                <c:pt idx="1">
                  <c:v>1545</c:v>
                </c:pt>
                <c:pt idx="2">
                  <c:v>2083</c:v>
                </c:pt>
                <c:pt idx="3">
                  <c:v>2658</c:v>
                </c:pt>
                <c:pt idx="4">
                  <c:v>2142</c:v>
                </c:pt>
                <c:pt idx="5">
                  <c:v>2047</c:v>
                </c:pt>
                <c:pt idx="6">
                  <c:v>2719</c:v>
                </c:pt>
                <c:pt idx="7">
                  <c:v>3163</c:v>
                </c:pt>
                <c:pt idx="8">
                  <c:v>3541</c:v>
                </c:pt>
                <c:pt idx="9">
                  <c:v>3095</c:v>
                </c:pt>
                <c:pt idx="10">
                  <c:v>2797</c:v>
                </c:pt>
                <c:pt idx="11">
                  <c:v>3478</c:v>
                </c:pt>
                <c:pt idx="12">
                  <c:v>1952</c:v>
                </c:pt>
                <c:pt idx="13">
                  <c:v>1665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B9-4DEC-ACB9-5A03BB28FC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Value (AED Bn)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0.79</c:v>
                </c:pt>
                <c:pt idx="1">
                  <c:v>1.24</c:v>
                </c:pt>
                <c:pt idx="2">
                  <c:v>1.71</c:v>
                </c:pt>
                <c:pt idx="3">
                  <c:v>2.0699999999999998</c:v>
                </c:pt>
                <c:pt idx="4">
                  <c:v>1.65</c:v>
                </c:pt>
                <c:pt idx="5">
                  <c:v>1.59</c:v>
                </c:pt>
                <c:pt idx="6">
                  <c:v>2.27</c:v>
                </c:pt>
                <c:pt idx="7">
                  <c:v>2.85</c:v>
                </c:pt>
                <c:pt idx="8">
                  <c:v>3.03</c:v>
                </c:pt>
                <c:pt idx="9">
                  <c:v>2.6</c:v>
                </c:pt>
                <c:pt idx="10">
                  <c:v>2.5099999999999998</c:v>
                </c:pt>
                <c:pt idx="11">
                  <c:v>2.88</c:v>
                </c:pt>
                <c:pt idx="12">
                  <c:v>1.55</c:v>
                </c:pt>
                <c:pt idx="13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A6-4DB4-8ACA-CFD2B368DF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AED/sqft</c:v>
                </c:pt>
              </c:strCache>
            </c:strRef>
          </c:tx>
          <c:spPr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1922</c:v>
                </c:pt>
                <c:pt idx="1">
                  <c:v>1918</c:v>
                </c:pt>
                <c:pt idx="2">
                  <c:v>1976</c:v>
                </c:pt>
                <c:pt idx="3">
                  <c:v>1926</c:v>
                </c:pt>
                <c:pt idx="4">
                  <c:v>1922</c:v>
                </c:pt>
                <c:pt idx="5">
                  <c:v>1914</c:v>
                </c:pt>
                <c:pt idx="6">
                  <c:v>2043</c:v>
                </c:pt>
                <c:pt idx="7">
                  <c:v>2127</c:v>
                </c:pt>
                <c:pt idx="8">
                  <c:v>2055</c:v>
                </c:pt>
                <c:pt idx="9">
                  <c:v>2005</c:v>
                </c:pt>
                <c:pt idx="10">
                  <c:v>2103</c:v>
                </c:pt>
                <c:pt idx="11">
                  <c:v>2011</c:v>
                </c:pt>
                <c:pt idx="12">
                  <c:v>1930</c:v>
                </c:pt>
                <c:pt idx="13">
                  <c:v>2252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9B8-442F-9AF1-3C62C2DE84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Ticket (AED 000s)</c:v>
                </c:pt>
              </c:strCache>
            </c:strRef>
          </c:tx>
          <c:spPr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764</c:v>
                </c:pt>
                <c:pt idx="1">
                  <c:v>805</c:v>
                </c:pt>
                <c:pt idx="2">
                  <c:v>820</c:v>
                </c:pt>
                <c:pt idx="3">
                  <c:v>779</c:v>
                </c:pt>
                <c:pt idx="4">
                  <c:v>769</c:v>
                </c:pt>
                <c:pt idx="5">
                  <c:v>779</c:v>
                </c:pt>
                <c:pt idx="6">
                  <c:v>833</c:v>
                </c:pt>
                <c:pt idx="7">
                  <c:v>900</c:v>
                </c:pt>
                <c:pt idx="8">
                  <c:v>854</c:v>
                </c:pt>
                <c:pt idx="9">
                  <c:v>839</c:v>
                </c:pt>
                <c:pt idx="10">
                  <c:v>896</c:v>
                </c:pt>
                <c:pt idx="11">
                  <c:v>829</c:v>
                </c:pt>
                <c:pt idx="12">
                  <c:v>792</c:v>
                </c:pt>
                <c:pt idx="13">
                  <c:v>898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9B8-442F-9AF1-3C62C2DE8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Value (AED Bn)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AC-4EA1-808D-4EC1F8B40E9C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AC-4EA1-808D-4EC1F8B40E9C}"/>
              </c:ext>
            </c:extLst>
          </c:dPt>
          <c:dPt>
            <c:idx val="2"/>
            <c:invertIfNegative val="0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AC-4EA1-808D-4EC1F8B40E9C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AC-4EA1-808D-4EC1F8B40E9C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DAC-4EA1-808D-4EC1F8B40E9C}"/>
              </c:ext>
            </c:extLst>
          </c:dPt>
          <c:dPt>
            <c:idx val="5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DAC-4EA1-808D-4EC1F8B40E9C}"/>
              </c:ext>
            </c:extLst>
          </c:dPt>
          <c:dPt>
            <c:idx val="6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DAC-4EA1-808D-4EC1F8B40E9C}"/>
              </c:ext>
            </c:extLst>
          </c:dPt>
          <c:dPt>
            <c:idx val="7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DAC-4EA1-808D-4EC1F8B40E9C}"/>
              </c:ext>
            </c:extLst>
          </c:dPt>
          <c:dPt>
            <c:idx val="8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DAC-4EA1-808D-4EC1F8B40E9C}"/>
              </c:ext>
            </c:extLst>
          </c:dPt>
          <c:dPt>
            <c:idx val="9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DAC-4EA1-808D-4EC1F8B40E9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Business Bay</c:v>
                </c:pt>
                <c:pt idx="1">
                  <c:v>JVC</c:v>
                </c:pt>
                <c:pt idx="2">
                  <c:v>DRC</c:v>
                </c:pt>
                <c:pt idx="3">
                  <c:v>Dubai Science Park</c:v>
                </c:pt>
                <c:pt idx="4">
                  <c:v>Dubai Production City</c:v>
                </c:pt>
                <c:pt idx="5">
                  <c:v>Majan</c:v>
                </c:pt>
                <c:pt idx="6">
                  <c:v>Dubai Marina</c:v>
                </c:pt>
                <c:pt idx="7">
                  <c:v>JVT</c:v>
                </c:pt>
                <c:pt idx="8">
                  <c:v>Azizi Venice</c:v>
                </c:pt>
                <c:pt idx="9">
                  <c:v>Dubai Maritime City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4.22</c:v>
                </c:pt>
                <c:pt idx="1">
                  <c:v>3.25</c:v>
                </c:pt>
                <c:pt idx="2">
                  <c:v>2.58</c:v>
                </c:pt>
                <c:pt idx="3">
                  <c:v>2.23</c:v>
                </c:pt>
                <c:pt idx="4">
                  <c:v>1.69</c:v>
                </c:pt>
                <c:pt idx="5">
                  <c:v>1.61</c:v>
                </c:pt>
                <c:pt idx="6">
                  <c:v>1.21</c:v>
                </c:pt>
                <c:pt idx="7">
                  <c:v>1.1200000000000001</c:v>
                </c:pt>
                <c:pt idx="8">
                  <c:v>0.93</c:v>
                </c:pt>
                <c:pt idx="9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DAC-4EA1-808D-4EC1F8B40E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JVC</c:v>
                </c:pt>
                <c:pt idx="1">
                  <c:v>DRC</c:v>
                </c:pt>
                <c:pt idx="2">
                  <c:v>Business Bay</c:v>
                </c:pt>
                <c:pt idx="3">
                  <c:v>Dubai Science Park</c:v>
                </c:pt>
                <c:pt idx="4">
                  <c:v>Dubai Prod. City</c:v>
                </c:pt>
                <c:pt idx="5">
                  <c:v>Majan</c:v>
                </c:pt>
                <c:pt idx="6">
                  <c:v>JVT</c:v>
                </c:pt>
                <c:pt idx="7">
                  <c:v>Azizi Venice</c:v>
                </c:pt>
                <c:pt idx="8">
                  <c:v>Dubai Sports City</c:v>
                </c:pt>
                <c:pt idx="9">
                  <c:v>DSO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4493</c:v>
                </c:pt>
                <c:pt idx="1">
                  <c:v>3835</c:v>
                </c:pt>
                <c:pt idx="2">
                  <c:v>3424</c:v>
                </c:pt>
                <c:pt idx="3">
                  <c:v>2552</c:v>
                </c:pt>
                <c:pt idx="4">
                  <c:v>2628</c:v>
                </c:pt>
                <c:pt idx="5">
                  <c:v>2299</c:v>
                </c:pt>
                <c:pt idx="6">
                  <c:v>1547</c:v>
                </c:pt>
                <c:pt idx="7">
                  <c:v>1437</c:v>
                </c:pt>
                <c:pt idx="8">
                  <c:v>1015</c:v>
                </c:pt>
                <c:pt idx="9">
                  <c:v>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14-47FD-B6DE-56F350F188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AED/sqft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JVC</c:v>
                </c:pt>
                <c:pt idx="1">
                  <c:v>DRC</c:v>
                </c:pt>
                <c:pt idx="2">
                  <c:v>Business Bay</c:v>
                </c:pt>
                <c:pt idx="3">
                  <c:v>Dubai Science Park</c:v>
                </c:pt>
                <c:pt idx="4">
                  <c:v>Dubai Prod. City</c:v>
                </c:pt>
                <c:pt idx="5">
                  <c:v>Majan</c:v>
                </c:pt>
                <c:pt idx="6">
                  <c:v>JVT</c:v>
                </c:pt>
                <c:pt idx="7">
                  <c:v>Azizi Venice</c:v>
                </c:pt>
                <c:pt idx="8">
                  <c:v>Dubai Sports City</c:v>
                </c:pt>
                <c:pt idx="9">
                  <c:v>DSO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1746</c:v>
                </c:pt>
                <c:pt idx="1">
                  <c:v>1573</c:v>
                </c:pt>
                <c:pt idx="2">
                  <c:v>2778</c:v>
                </c:pt>
                <c:pt idx="3">
                  <c:v>1952</c:v>
                </c:pt>
                <c:pt idx="4">
                  <c:v>1595</c:v>
                </c:pt>
                <c:pt idx="5">
                  <c:v>1784</c:v>
                </c:pt>
                <c:pt idx="6">
                  <c:v>1821</c:v>
                </c:pt>
                <c:pt idx="7">
                  <c:v>1783</c:v>
                </c:pt>
                <c:pt idx="8">
                  <c:v>1751</c:v>
                </c:pt>
                <c:pt idx="9">
                  <c:v>1565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29-4BDF-92C5-B8D4FC7742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Value (AED Bn)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63C-4D06-9293-AB43FE93CC72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63C-4D06-9293-AB43FE93CC72}"/>
              </c:ext>
            </c:extLst>
          </c:dPt>
          <c:dPt>
            <c:idx val="2"/>
            <c:invertIfNegative val="0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63C-4D06-9293-AB43FE93CC72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63C-4D06-9293-AB43FE93CC72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63C-4D06-9293-AB43FE93CC72}"/>
              </c:ext>
            </c:extLst>
          </c:dPt>
          <c:dPt>
            <c:idx val="5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63C-4D06-9293-AB43FE93CC72}"/>
              </c:ext>
            </c:extLst>
          </c:dPt>
          <c:dPt>
            <c:idx val="6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63C-4D06-9293-AB43FE93CC72}"/>
              </c:ext>
            </c:extLst>
          </c:dPt>
          <c:dPt>
            <c:idx val="7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63C-4D06-9293-AB43FE93CC72}"/>
              </c:ext>
            </c:extLst>
          </c:dPt>
          <c:dPt>
            <c:idx val="8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63C-4D06-9293-AB43FE93CC72}"/>
              </c:ext>
            </c:extLst>
          </c:dPt>
          <c:dPt>
            <c:idx val="9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63C-4D06-9293-AB43FE93CC7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Binghatti</c:v>
                </c:pt>
                <c:pt idx="1">
                  <c:v>Danube</c:v>
                </c:pt>
                <c:pt idx="2">
                  <c:v>Samana</c:v>
                </c:pt>
                <c:pt idx="3">
                  <c:v>Azizi</c:v>
                </c:pt>
                <c:pt idx="4">
                  <c:v>Hijazi</c:v>
                </c:pt>
                <c:pt idx="5">
                  <c:v>Imtiaz</c:v>
                </c:pt>
                <c:pt idx="6">
                  <c:v>IRTH Dev.</c:v>
                </c:pt>
                <c:pt idx="7">
                  <c:v>London Gate</c:v>
                </c:pt>
                <c:pt idx="8">
                  <c:v>Object One</c:v>
                </c:pt>
                <c:pt idx="9">
                  <c:v>Tiger Prop.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9.66</c:v>
                </c:pt>
                <c:pt idx="1">
                  <c:v>1.69</c:v>
                </c:pt>
                <c:pt idx="2">
                  <c:v>1.6</c:v>
                </c:pt>
                <c:pt idx="3">
                  <c:v>1.47</c:v>
                </c:pt>
                <c:pt idx="4">
                  <c:v>1.03</c:v>
                </c:pt>
                <c:pt idx="5">
                  <c:v>0.79</c:v>
                </c:pt>
                <c:pt idx="6">
                  <c:v>0.78</c:v>
                </c:pt>
                <c:pt idx="7">
                  <c:v>0.76</c:v>
                </c:pt>
                <c:pt idx="8">
                  <c:v>0.61</c:v>
                </c:pt>
                <c:pt idx="9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63C-4D06-9293-AB43FE93CC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A1628"/>
                </a:solidFill>
                <a:latin typeface="Arial"/>
              </a:rPr>
              <a:t>Distribution by Ticket Size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 Size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21-47E6-B07D-F6178F4E362D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21-47E6-B07D-F6178F4E362D}"/>
              </c:ext>
            </c:extLst>
          </c:dPt>
          <c:dPt>
            <c:idx val="2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21-47E6-B07D-F6178F4E362D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21-47E6-B07D-F6178F4E362D}"/>
              </c:ext>
            </c:extLst>
          </c:dPt>
          <c:dPt>
            <c:idx val="4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21-47E6-B07D-F6178F4E362D}"/>
              </c:ext>
            </c:extLst>
          </c:dPt>
          <c:dPt>
            <c:idx val="5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B21-47E6-B07D-F6178F4E362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21-47E6-B07D-F6178F4E362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21-47E6-B07D-F6178F4E362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21-47E6-B07D-F6178F4E362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21-47E6-B07D-F6178F4E362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B21-47E6-B07D-F6178F4E362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B21-47E6-B07D-F6178F4E362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&lt;500K</c:v>
                </c:pt>
                <c:pt idx="1">
                  <c:v>500K–750K</c:v>
                </c:pt>
                <c:pt idx="2">
                  <c:v>750K–1M</c:v>
                </c:pt>
                <c:pt idx="3">
                  <c:v>1M–1.25M</c:v>
                </c:pt>
                <c:pt idx="4">
                  <c:v>1.25M–1.5M</c:v>
                </c:pt>
                <c:pt idx="5">
                  <c:v>&gt;1.5M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2149</c:v>
                </c:pt>
                <c:pt idx="1">
                  <c:v>15190</c:v>
                </c:pt>
                <c:pt idx="2">
                  <c:v>9461</c:v>
                </c:pt>
                <c:pt idx="3">
                  <c:v>3602</c:v>
                </c:pt>
                <c:pt idx="4">
                  <c:v>2217</c:v>
                </c:pt>
                <c:pt idx="5">
                  <c:v>1302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B21-47E6-B07D-F6178F4E3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A1628"/>
                </a:solidFill>
                <a:latin typeface="Arial"/>
              </a:rPr>
              <a:t>Distribution by AED/sqft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AED/sqft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6A-4409-9FFC-32945F3D21CB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6A-4409-9FFC-32945F3D21CB}"/>
              </c:ext>
            </c:extLst>
          </c:dPt>
          <c:dPt>
            <c:idx val="2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6A-4409-9FFC-32945F3D21CB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66A-4409-9FFC-32945F3D21CB}"/>
              </c:ext>
            </c:extLst>
          </c:dPt>
          <c:dPt>
            <c:idx val="4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66A-4409-9FFC-32945F3D21CB}"/>
              </c:ext>
            </c:extLst>
          </c:dPt>
          <c:dPt>
            <c:idx val="5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66A-4409-9FFC-32945F3D21C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6A-4409-9FFC-32945F3D21C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6A-4409-9FFC-32945F3D21C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66A-4409-9FFC-32945F3D21C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66A-4409-9FFC-32945F3D21C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66A-4409-9FFC-32945F3D21C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66A-4409-9FFC-32945F3D21C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&lt;1,000</c:v>
                </c:pt>
                <c:pt idx="1">
                  <c:v>1,000–1,500</c:v>
                </c:pt>
                <c:pt idx="2">
                  <c:v>1,500–2,000</c:v>
                </c:pt>
                <c:pt idx="3">
                  <c:v>2,000–2,500</c:v>
                </c:pt>
                <c:pt idx="4">
                  <c:v>2,500–3,000</c:v>
                </c:pt>
                <c:pt idx="5">
                  <c:v>&gt;3,000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225</c:v>
                </c:pt>
                <c:pt idx="1">
                  <c:v>5769</c:v>
                </c:pt>
                <c:pt idx="2">
                  <c:v>16167</c:v>
                </c:pt>
                <c:pt idx="3">
                  <c:v>5922</c:v>
                </c:pt>
                <c:pt idx="4">
                  <c:v>2460</c:v>
                </c:pt>
                <c:pt idx="5">
                  <c:v>3378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66A-4409-9FFC-32945F3D2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&lt;350 sqft</c:v>
                </c:pt>
                <c:pt idx="1">
                  <c:v>350–400 sqft</c:v>
                </c:pt>
                <c:pt idx="2">
                  <c:v>400–450 sqft</c:v>
                </c:pt>
                <c:pt idx="3">
                  <c:v>450–500 sqft</c:v>
                </c:pt>
                <c:pt idx="4">
                  <c:v>500–550 sqft</c:v>
                </c:pt>
                <c:pt idx="5">
                  <c:v>&gt;550 sqft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2248</c:v>
                </c:pt>
                <c:pt idx="1">
                  <c:v>11367</c:v>
                </c:pt>
                <c:pt idx="2">
                  <c:v>12289</c:v>
                </c:pt>
                <c:pt idx="3">
                  <c:v>5602</c:v>
                </c:pt>
                <c:pt idx="4">
                  <c:v>1617</c:v>
                </c:pt>
                <c:pt idx="5">
                  <c:v>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5B-4B33-97D8-0945EDA1B3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95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0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164592" y="4480560"/>
            <a:ext cx="8979408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STUDIO APARTMENT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Off-Plan Primary Sales  |  Jan 2025 – Feb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926080"/>
            <a:ext cx="201168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484632" y="29992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33,921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35661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87752" y="2926080"/>
            <a:ext cx="201168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660904" y="29992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28.2 Bn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60904" y="35661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64024" y="2926080"/>
            <a:ext cx="201168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837176" y="29992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831K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37176" y="35661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 Size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0296" y="2926080"/>
            <a:ext cx="201168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013448" y="29992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2,009 AED/sqft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13448" y="35661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526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Mr. Francis Alfred  |  Dubai Real Estate Intelligence Report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 —  KEY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28600" y="10058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33,921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2025 – Feb 2026)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47672" y="9144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1947672" y="91440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1993392" y="10058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28.2 Bn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93392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Value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2025 – Feb 2026)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12464" y="9144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3712464" y="91440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3758184" y="10058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831K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8184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 Size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Transactions)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77256" y="9144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5477256" y="91440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5522976" y="10058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2,009 AED/sqft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22976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Transactions)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42048" y="9144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7242048" y="91440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7287768" y="10058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 sqft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87768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Studio Size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Transactions)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24231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Full Year vs. 2026 YTD Comparison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8503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34640"/>
          <a:ext cx="850392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(Full 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YTD (Jan–Feb)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Value (AED Bn)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Ticket Size (AED)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830,810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841,091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Rate (AED/sqft)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Size (sqft)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VOLUME  —  UNITS SOLD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8595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Peak month: September 2025 with 3,541 units sold — 242% above January 2025 (the start of the year)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VALUE  —  AED BILLIONS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8595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September 2025 recorded the highest monthly value at AED 3.03 Bn — 3.8x January 2025 value (AED 0.79 Bn)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TREND  —  AVG. RATE (AED/sqft)  &amp;  AVG. TICKET SIZE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8595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42062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384048" y="4590288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AED/sqft rose from 1,922 in Jan-25 to 2,252 in Feb-26 (+17%)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4572000"/>
            <a:ext cx="4206240" cy="41148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4773168" y="4590288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Avg ticket peaked at AED 900K in Aug-25, driven by larger-unit demand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COMMUNITIES  —  TOTAL SALES VALUE (AED Bn)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8595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411480" y="4453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Business Bay leads with AED 4.22 Bn — 30% more than 2nd-ranked JVC. Dubai Marina commands the highest avg rate at AED 3,938/sqft.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COMMUNITIES  —  UNITS SOLD  vs.  AVG RATE (AED/sqft)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822960"/>
          <a:ext cx="34747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JVC has the highest volume but mid-tier pricing; Business Bay has 3rd-highest volume but the highest rate — a premium demand signal.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DEVELOPERS  —  VALUE, UNITS &amp; AVG RATE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822960"/>
          <a:ext cx="3840480" cy="3520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AED/sqft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Binghatti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IRTH Dev.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Danube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Hijazi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Azizi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Tiger Prop.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Imtiaz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462272"/>
            <a:ext cx="8595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411480" y="44805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Binghatti is the dominant player with AED 9.66 Bn — nearly 6x the second developer. IRTH and London Gate command premium rates above AED 2,800/sqft.</a:t>
            </a:r>
            <a:endParaRPr lang="en-US" sz="1050" dirty="0"/>
          </a:p>
        </p:txBody>
      </p:sp>
      <p:sp>
        <p:nvSpPr>
          <p:cNvPr id="6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SEGMENTATION  —  TICKET SIZE &amp; AED/sqft DISTRIBUTION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822960"/>
          <a:ext cx="4206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822960"/>
          <a:ext cx="4206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SIZE DISTRIBUTION  &amp;  MARKET DEEP DIVE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5760720" y="914400"/>
            <a:ext cx="73152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5943600" y="9692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Sweet Spot: 400–450 sqft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29844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Most-purchased range — 36% of all transactions. Ideal balance of size and affordability.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103120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8"/>
          <p:cNvSpPr/>
          <p:nvPr/>
        </p:nvSpPr>
        <p:spPr>
          <a:xfrm>
            <a:off x="5760720" y="2103120"/>
            <a:ext cx="73152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9"/>
          <p:cNvSpPr/>
          <p:nvPr/>
        </p:nvSpPr>
        <p:spPr>
          <a:xfrm>
            <a:off x="5943600" y="2157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Core Demand: 350–450 sqft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48716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of studios fall in 350–450 sqft. Developers who miss this are mispriced.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291840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2"/>
          <p:cNvSpPr/>
          <p:nvPr/>
        </p:nvSpPr>
        <p:spPr>
          <a:xfrm>
            <a:off x="5760720" y="3291840"/>
            <a:ext cx="73152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5943600" y="33467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Sub-350 sqft Premium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367588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Micro-studios (&lt;350 sqft) command higher PSF in premium locations like Business Bay &amp; Dubai Marina.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Land Department  |  Studio Apartment Off-Plan Primary Sales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Growth Trajectory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AED 0.79 Bn in Jan 2025 to AED 3.03 Bn in Sep 2025 — a 283% increase in monthly sales value in just 9 months.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10512"/>
            <a:ext cx="5029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8105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is Accelerating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08483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rate grew from AED 1,922/sqft (Jan 2025) to AED 2,252/sqft (Feb 2026) — a 17% increase. Premium communities show far higher PSF.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15184"/>
            <a:ext cx="5029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11480" y="261518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6151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Binghatti's Market Dominance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8950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Binghatti captured AED 9.66 Bn (34% of total market value) with 10,042 units — a position unmatched by any competitor.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19856"/>
            <a:ext cx="5029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Bay = Premium Studio 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69417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community value (AED 4.22 Bn) at AED 2,778/sqft avg — a clear premium demand signal versus JVC at AED 1,746/sqft.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224528"/>
            <a:ext cx="5029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411480" y="422452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42245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400–450 sqft Sweet Spot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4988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all transactions fall in this size band. Developers who center product around this range are capturing the largest demand pool.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824</Words>
  <Application>Microsoft Office PowerPoint</Application>
  <PresentationFormat>On-screen Show (16:9)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Dubai Studio Market Analysis 2025</dc:title>
  <dc:subject>PptxGenJS Presentation</dc:subject>
  <dc:creator>PptxGenJS</dc:creator>
  <cp:lastModifiedBy>Manas Mohan</cp:lastModifiedBy>
  <cp:revision>1</cp:revision>
  <cp:lastPrinted>2026-02-24T09:50:07Z</cp:lastPrinted>
  <dcterms:created xsi:type="dcterms:W3CDTF">2026-02-24T09:44:26Z</dcterms:created>
  <dcterms:modified xsi:type="dcterms:W3CDTF">2026-02-24T11:08:52Z</dcterms:modified>
</cp:coreProperties>
</file>